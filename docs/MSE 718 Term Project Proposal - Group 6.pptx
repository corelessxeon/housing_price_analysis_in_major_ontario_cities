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C76A52-FE57-894A-9933-5392ABD4AE4B}" v="12" dt="2026-03-11T14:13:56.253"/>
    <p1510:client id="{78BE5A76-D628-44E3-8F63-43FB538F3FAB}" v="248" dt="2026-03-11T15:01:29.881"/>
    <p1510:client id="{EBA14ACA-5DAE-4973-AECD-54EF8B47E69A}" v="6" dt="2026-03-11T18:00:03.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5EC76A52-FE57-894A-9933-5392ABD4AE4B}"/>
    <pc:docChg chg="modSld">
      <pc:chgData name="Guest User" userId="" providerId="Windows Live" clId="Web-{5EC76A52-FE57-894A-9933-5392ABD4AE4B}" dt="2026-03-11T14:27:15.859" v="10"/>
      <pc:docMkLst>
        <pc:docMk/>
      </pc:docMkLst>
      <pc:sldChg chg="addSp delSp modSp mod setBg">
        <pc:chgData name="Guest User" userId="" providerId="Windows Live" clId="Web-{5EC76A52-FE57-894A-9933-5392ABD4AE4B}" dt="2026-03-11T14:27:15.859" v="10"/>
        <pc:sldMkLst>
          <pc:docMk/>
          <pc:sldMk cId="2014564087" sldId="258"/>
        </pc:sldMkLst>
        <pc:spChg chg="mod">
          <ac:chgData name="Guest User" userId="" providerId="Windows Live" clId="Web-{5EC76A52-FE57-894A-9933-5392ABD4AE4B}" dt="2026-03-11T14:27:15.859" v="10"/>
          <ac:spMkLst>
            <pc:docMk/>
            <pc:sldMk cId="2014564087" sldId="258"/>
            <ac:spMk id="2" creationId="{E554FDB8-2366-CD04-7366-A766DDAA2CC5}"/>
          </ac:spMkLst>
        </pc:spChg>
        <pc:spChg chg="mod">
          <ac:chgData name="Guest User" userId="" providerId="Windows Live" clId="Web-{5EC76A52-FE57-894A-9933-5392ABD4AE4B}" dt="2026-03-11T14:27:15.859" v="10"/>
          <ac:spMkLst>
            <pc:docMk/>
            <pc:sldMk cId="2014564087" sldId="258"/>
            <ac:spMk id="3" creationId="{3BA2AC05-3EB4-BF6A-E0FC-D6BEDC12E71C}"/>
          </ac:spMkLst>
        </pc:spChg>
        <pc:spChg chg="add">
          <ac:chgData name="Guest User" userId="" providerId="Windows Live" clId="Web-{5EC76A52-FE57-894A-9933-5392ABD4AE4B}" dt="2026-03-11T14:27:15.859" v="10"/>
          <ac:spMkLst>
            <pc:docMk/>
            <pc:sldMk cId="2014564087" sldId="258"/>
            <ac:spMk id="10" creationId="{DBC6133C-0615-4CE4-9132-37E609A9BDFA}"/>
          </ac:spMkLst>
        </pc:spChg>
        <pc:spChg chg="add">
          <ac:chgData name="Guest User" userId="" providerId="Windows Live" clId="Web-{5EC76A52-FE57-894A-9933-5392ABD4AE4B}" dt="2026-03-11T14:27:15.859" v="10"/>
          <ac:spMkLst>
            <pc:docMk/>
            <pc:sldMk cId="2014564087" sldId="258"/>
            <ac:spMk id="12" creationId="{169CC832-2974-4E8D-90ED-3E2941BA7336}"/>
          </ac:spMkLst>
        </pc:spChg>
        <pc:spChg chg="add">
          <ac:chgData name="Guest User" userId="" providerId="Windows Live" clId="Web-{5EC76A52-FE57-894A-9933-5392ABD4AE4B}" dt="2026-03-11T14:27:15.859" v="10"/>
          <ac:spMkLst>
            <pc:docMk/>
            <pc:sldMk cId="2014564087" sldId="258"/>
            <ac:spMk id="14" creationId="{55222F96-971A-4F90-B841-6BAB416C7AC1}"/>
          </ac:spMkLst>
        </pc:spChg>
        <pc:spChg chg="add">
          <ac:chgData name="Guest User" userId="" providerId="Windows Live" clId="Web-{5EC76A52-FE57-894A-9933-5392ABD4AE4B}" dt="2026-03-11T14:27:15.859" v="10"/>
          <ac:spMkLst>
            <pc:docMk/>
            <pc:sldMk cId="2014564087" sldId="258"/>
            <ac:spMk id="16" creationId="{08980754-6F4B-43C9-B9BE-127B6BED6586}"/>
          </ac:spMkLst>
        </pc:spChg>
        <pc:spChg chg="add">
          <ac:chgData name="Guest User" userId="" providerId="Windows Live" clId="Web-{5EC76A52-FE57-894A-9933-5392ABD4AE4B}" dt="2026-03-11T14:27:15.859" v="10"/>
          <ac:spMkLst>
            <pc:docMk/>
            <pc:sldMk cId="2014564087" sldId="258"/>
            <ac:spMk id="18" creationId="{2C1BBA94-3F40-40AA-8BB9-E69E25E537C1}"/>
          </ac:spMkLst>
        </pc:spChg>
        <pc:picChg chg="add del mod">
          <ac:chgData name="Guest User" userId="" providerId="Windows Live" clId="Web-{5EC76A52-FE57-894A-9933-5392ABD4AE4B}" dt="2026-03-11T14:12:43.720" v="6"/>
          <ac:picMkLst>
            <pc:docMk/>
            <pc:sldMk cId="2014564087" sldId="258"/>
            <ac:picMk id="4" creationId="{1F74F11A-5819-8CAC-1F9E-F5AD6CCB7C74}"/>
          </ac:picMkLst>
        </pc:picChg>
        <pc:picChg chg="add mod ord">
          <ac:chgData name="Guest User" userId="" providerId="Windows Live" clId="Web-{5EC76A52-FE57-894A-9933-5392ABD4AE4B}" dt="2026-03-11T14:27:15.859" v="10"/>
          <ac:picMkLst>
            <pc:docMk/>
            <pc:sldMk cId="2014564087" sldId="258"/>
            <ac:picMk id="5" creationId="{3782C2F1-1652-3090-C6DC-589ABB1D3257}"/>
          </ac:picMkLst>
        </pc:picChg>
      </pc:sldChg>
    </pc:docChg>
  </pc:docChgLst>
  <pc:docChgLst>
    <pc:chgData name="Wentao Zang" userId="9dd4e1e973bc8f2a" providerId="LiveId" clId="{38700D4C-73A3-4BB5-9BFF-7DAC025B7BF4}"/>
    <pc:docChg chg="undo redo custSel addSld delSld modSld">
      <pc:chgData name="Wentao Zang" userId="9dd4e1e973bc8f2a" providerId="LiveId" clId="{38700D4C-73A3-4BB5-9BFF-7DAC025B7BF4}" dt="2026-03-11T15:01:29.881" v="309" actId="20577"/>
      <pc:docMkLst>
        <pc:docMk/>
      </pc:docMkLst>
      <pc:sldChg chg="delSp">
        <pc:chgData name="Wentao Zang" userId="9dd4e1e973bc8f2a" providerId="LiveId" clId="{38700D4C-73A3-4BB5-9BFF-7DAC025B7BF4}" dt="2026-03-11T13:45:07.849" v="218" actId="478"/>
        <pc:sldMkLst>
          <pc:docMk/>
          <pc:sldMk cId="1758588869" sldId="256"/>
        </pc:sldMkLst>
        <pc:picChg chg="del">
          <ac:chgData name="Wentao Zang" userId="9dd4e1e973bc8f2a" providerId="LiveId" clId="{38700D4C-73A3-4BB5-9BFF-7DAC025B7BF4}" dt="2026-03-11T13:45:07.849" v="218" actId="478"/>
          <ac:picMkLst>
            <pc:docMk/>
            <pc:sldMk cId="1758588869" sldId="256"/>
            <ac:picMk id="5" creationId="{1F6E8D64-8DD8-FD61-6941-BDEDD9325DCD}"/>
          </ac:picMkLst>
        </pc:picChg>
      </pc:sldChg>
      <pc:sldChg chg="delSp modSp mod modNotesTx">
        <pc:chgData name="Wentao Zang" userId="9dd4e1e973bc8f2a" providerId="LiveId" clId="{38700D4C-73A3-4BB5-9BFF-7DAC025B7BF4}" dt="2026-03-11T14:54:46.248" v="307" actId="255"/>
        <pc:sldMkLst>
          <pc:docMk/>
          <pc:sldMk cId="2014564087" sldId="258"/>
        </pc:sldMkLst>
        <pc:spChg chg="mod">
          <ac:chgData name="Wentao Zang" userId="9dd4e1e973bc8f2a" providerId="LiveId" clId="{38700D4C-73A3-4BB5-9BFF-7DAC025B7BF4}" dt="2026-03-11T14:54:25.188" v="303" actId="2711"/>
          <ac:spMkLst>
            <pc:docMk/>
            <pc:sldMk cId="2014564087" sldId="258"/>
            <ac:spMk id="2" creationId="{E554FDB8-2366-CD04-7366-A766DDAA2CC5}"/>
          </ac:spMkLst>
        </pc:spChg>
        <pc:spChg chg="mod">
          <ac:chgData name="Wentao Zang" userId="9dd4e1e973bc8f2a" providerId="LiveId" clId="{38700D4C-73A3-4BB5-9BFF-7DAC025B7BF4}" dt="2026-03-11T14:54:46.248" v="307" actId="255"/>
          <ac:spMkLst>
            <pc:docMk/>
            <pc:sldMk cId="2014564087" sldId="258"/>
            <ac:spMk id="3" creationId="{3BA2AC05-3EB4-BF6A-E0FC-D6BEDC12E71C}"/>
          </ac:spMkLst>
        </pc:spChg>
        <pc:picChg chg="mod ord">
          <ac:chgData name="Wentao Zang" userId="9dd4e1e973bc8f2a" providerId="LiveId" clId="{38700D4C-73A3-4BB5-9BFF-7DAC025B7BF4}" dt="2026-03-11T14:28:30.297" v="246" actId="13244"/>
          <ac:picMkLst>
            <pc:docMk/>
            <pc:sldMk cId="2014564087" sldId="258"/>
            <ac:picMk id="5" creationId="{3782C2F1-1652-3090-C6DC-589ABB1D3257}"/>
          </ac:picMkLst>
        </pc:picChg>
        <pc:picChg chg="del">
          <ac:chgData name="Wentao Zang" userId="9dd4e1e973bc8f2a" providerId="LiveId" clId="{38700D4C-73A3-4BB5-9BFF-7DAC025B7BF4}" dt="2026-03-11T13:45:09.561" v="219" actId="478"/>
          <ac:picMkLst>
            <pc:docMk/>
            <pc:sldMk cId="2014564087" sldId="258"/>
            <ac:picMk id="1026" creationId="{311F3F78-2E36-8C5E-AFB8-05010765F914}"/>
          </ac:picMkLst>
        </pc:picChg>
      </pc:sldChg>
      <pc:sldChg chg="delSp modSp mod">
        <pc:chgData name="Wentao Zang" userId="9dd4e1e973bc8f2a" providerId="LiveId" clId="{38700D4C-73A3-4BB5-9BFF-7DAC025B7BF4}" dt="2026-03-11T14:42:59.668" v="293" actId="20577"/>
        <pc:sldMkLst>
          <pc:docMk/>
          <pc:sldMk cId="3851400228" sldId="259"/>
        </pc:sldMkLst>
        <pc:spChg chg="mod">
          <ac:chgData name="Wentao Zang" userId="9dd4e1e973bc8f2a" providerId="LiveId" clId="{38700D4C-73A3-4BB5-9BFF-7DAC025B7BF4}" dt="2026-03-11T14:42:59.668" v="293" actId="20577"/>
          <ac:spMkLst>
            <pc:docMk/>
            <pc:sldMk cId="3851400228" sldId="259"/>
            <ac:spMk id="3" creationId="{152DC2D5-6D10-B0DA-BC21-C090ECD2B67A}"/>
          </ac:spMkLst>
        </pc:spChg>
        <pc:picChg chg="del">
          <ac:chgData name="Wentao Zang" userId="9dd4e1e973bc8f2a" providerId="LiveId" clId="{38700D4C-73A3-4BB5-9BFF-7DAC025B7BF4}" dt="2026-03-11T13:45:10.813" v="220" actId="478"/>
          <ac:picMkLst>
            <pc:docMk/>
            <pc:sldMk cId="3851400228" sldId="259"/>
            <ac:picMk id="4" creationId="{9904D358-AB05-FB57-A2F5-305F821F3AD2}"/>
          </ac:picMkLst>
        </pc:picChg>
      </pc:sldChg>
      <pc:sldChg chg="addSp delSp modSp add del mod">
        <pc:chgData name="Wentao Zang" userId="9dd4e1e973bc8f2a" providerId="LiveId" clId="{38700D4C-73A3-4BB5-9BFF-7DAC025B7BF4}" dt="2026-03-11T15:01:29.881" v="309" actId="20577"/>
        <pc:sldMkLst>
          <pc:docMk/>
          <pc:sldMk cId="1146714126" sldId="260"/>
        </pc:sldMkLst>
        <pc:spChg chg="mod">
          <ac:chgData name="Wentao Zang" userId="9dd4e1e973bc8f2a" providerId="LiveId" clId="{38700D4C-73A3-4BB5-9BFF-7DAC025B7BF4}" dt="2026-03-11T04:27:31.642" v="1" actId="1076"/>
          <ac:spMkLst>
            <pc:docMk/>
            <pc:sldMk cId="1146714126" sldId="260"/>
            <ac:spMk id="2" creationId="{E941F7BA-5DA0-1370-A421-6EBBC0677BFE}"/>
          </ac:spMkLst>
        </pc:spChg>
        <pc:spChg chg="mod">
          <ac:chgData name="Wentao Zang" userId="9dd4e1e973bc8f2a" providerId="LiveId" clId="{38700D4C-73A3-4BB5-9BFF-7DAC025B7BF4}" dt="2026-03-11T15:01:29.881" v="309" actId="20577"/>
          <ac:spMkLst>
            <pc:docMk/>
            <pc:sldMk cId="1146714126" sldId="260"/>
            <ac:spMk id="3" creationId="{DB7DD5C0-BC85-C272-4E1C-D9C2E8F81E09}"/>
          </ac:spMkLst>
        </pc:spChg>
        <pc:picChg chg="add del mod">
          <ac:chgData name="Wentao Zang" userId="9dd4e1e973bc8f2a" providerId="LiveId" clId="{38700D4C-73A3-4BB5-9BFF-7DAC025B7BF4}" dt="2026-03-11T13:45:15.979" v="223" actId="478"/>
          <ac:picMkLst>
            <pc:docMk/>
            <pc:sldMk cId="1146714126" sldId="260"/>
            <ac:picMk id="4" creationId="{1DF5F132-E664-B351-9E40-F74541AB882D}"/>
          </ac:picMkLst>
        </pc:picChg>
      </pc:sldChg>
      <pc:sldChg chg="add del">
        <pc:chgData name="Wentao Zang" userId="9dd4e1e973bc8f2a" providerId="LiveId" clId="{38700D4C-73A3-4BB5-9BFF-7DAC025B7BF4}" dt="2026-03-11T04:47:34.577" v="217" actId="2696"/>
        <pc:sldMkLst>
          <pc:docMk/>
          <pc:sldMk cId="2860279431" sldId="261"/>
        </pc:sldMkLst>
      </pc:sldChg>
    </pc:docChg>
  </pc:docChgLst>
  <pc:docChgLst>
    <pc:chgData name="Wentao Zang" userId="9dd4e1e973bc8f2a" providerId="LiveId" clId="{DF2872DD-ED9A-4F05-8F0D-EC39FC0D126D}"/>
    <pc:docChg chg="modSld">
      <pc:chgData name="Wentao Zang" userId="9dd4e1e973bc8f2a" providerId="LiveId" clId="{DF2872DD-ED9A-4F05-8F0D-EC39FC0D126D}" dt="2026-03-11T18:00:03.813" v="10" actId="20577"/>
      <pc:docMkLst>
        <pc:docMk/>
      </pc:docMkLst>
      <pc:sldChg chg="modNotesTx">
        <pc:chgData name="Wentao Zang" userId="9dd4e1e973bc8f2a" providerId="LiveId" clId="{DF2872DD-ED9A-4F05-8F0D-EC39FC0D126D}" dt="2026-03-11T17:19:14.348" v="4" actId="20577"/>
        <pc:sldMkLst>
          <pc:docMk/>
          <pc:sldMk cId="1758588869" sldId="256"/>
        </pc:sldMkLst>
      </pc:sldChg>
      <pc:sldChg chg="modSp mod modNotesTx">
        <pc:chgData name="Wentao Zang" userId="9dd4e1e973bc8f2a" providerId="LiveId" clId="{DF2872DD-ED9A-4F05-8F0D-EC39FC0D126D}" dt="2026-03-11T18:00:03.813" v="10" actId="20577"/>
        <pc:sldMkLst>
          <pc:docMk/>
          <pc:sldMk cId="1146714126" sldId="260"/>
        </pc:sldMkLst>
        <pc:spChg chg="mod">
          <ac:chgData name="Wentao Zang" userId="9dd4e1e973bc8f2a" providerId="LiveId" clId="{DF2872DD-ED9A-4F05-8F0D-EC39FC0D126D}" dt="2026-03-11T15:39:20.381" v="1" actId="403"/>
          <ac:spMkLst>
            <pc:docMk/>
            <pc:sldMk cId="1146714126" sldId="260"/>
            <ac:spMk id="3" creationId="{DB7DD5C0-BC85-C272-4E1C-D9C2E8F81E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34E265-84B0-4225-B7AC-D9C0CD145F21}" type="datetimeFigureOut">
              <a:rPr lang="en-CA" smtClean="0"/>
              <a:t>2026-03-11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5E99B-B6C2-4B7E-A8C3-9504C8974030}" type="slidenum">
              <a:rPr lang="en-CA" smtClean="0"/>
              <a:t>‹#›</a:t>
            </a:fld>
            <a:endParaRPr lang="en-CA"/>
          </a:p>
        </p:txBody>
      </p:sp>
    </p:spTree>
    <p:extLst>
      <p:ext uri="{BB962C8B-B14F-4D97-AF65-F5344CB8AC3E}">
        <p14:creationId xmlns:p14="http://schemas.microsoft.com/office/powerpoint/2010/main" val="2100663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afternoon everyone. We are group 6. Today we will briefly introduce our term project "Bayesian Multilevel Analysis of Housing Prices in Major Ontario Cities"</a:t>
            </a:r>
          </a:p>
          <a:p>
            <a:r>
              <a:rPr lang="en-US" altLang="zh-CN"/>
              <a:t>Our research question is </a:t>
            </a:r>
            <a:r>
              <a:rPr lang="en-US"/>
              <a:t>How do interest rates, international student enrollment, and housing supply interact to drive housing prices across major Ontario cities?</a:t>
            </a:r>
          </a:p>
        </p:txBody>
      </p:sp>
      <p:sp>
        <p:nvSpPr>
          <p:cNvPr id="4" name="Slide Number Placeholder 3"/>
          <p:cNvSpPr>
            <a:spLocks noGrp="1"/>
          </p:cNvSpPr>
          <p:nvPr>
            <p:ph type="sldNum" sz="quarter" idx="5"/>
          </p:nvPr>
        </p:nvSpPr>
        <p:spPr/>
        <p:txBody>
          <a:bodyPr/>
          <a:lstStyle/>
          <a:p>
            <a:fld id="{E5C5E99B-B6C2-4B7E-A8C3-9504C8974030}" type="slidenum">
              <a:rPr lang="en-CA" smtClean="0"/>
              <a:t>1</a:t>
            </a:fld>
            <a:endParaRPr lang="en-CA"/>
          </a:p>
        </p:txBody>
      </p:sp>
    </p:spTree>
    <p:extLst>
      <p:ext uri="{BB962C8B-B14F-4D97-AF65-F5344CB8AC3E}">
        <p14:creationId xmlns:p14="http://schemas.microsoft.com/office/powerpoint/2010/main" val="1953594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Background and Motivation</a:t>
            </a:r>
          </a:p>
          <a:p>
            <a:r>
              <a:rPr lang="en-US"/>
              <a:t>Housing affordability has become one of the most important economic issues in Canada in recent years. Over the past few years, the Bank of Canada has made significant adjustments to its policy interest rate, leading to substantial changes in mortgage costs and housing demand. Furthermore, Canada reduced international student permits recently to stabilize housing prices, which surged during the pandemic—a trend many attribute to high immigration levels. Does this strategy actually work, and if so, to what extent? Meanwhile</a:t>
            </a:r>
            <a:r>
              <a:rPr lang="en-CA"/>
              <a:t>,</a:t>
            </a:r>
            <a:r>
              <a:rPr lang="zh-CN" altLang="en-US"/>
              <a:t> </a:t>
            </a:r>
            <a:r>
              <a:rPr lang="en-US"/>
              <a:t>different cities may react differently depending on their local demand pressures and housing construction activity. Therefore, understanding both shared macroeconomic effects and city-specific responses can provide a clearer statistical picture of housing price dynamics.</a:t>
            </a:r>
            <a:endParaRPr lang="en-CA"/>
          </a:p>
        </p:txBody>
      </p:sp>
      <p:sp>
        <p:nvSpPr>
          <p:cNvPr id="4" name="Slide Number Placeholder 3"/>
          <p:cNvSpPr>
            <a:spLocks noGrp="1"/>
          </p:cNvSpPr>
          <p:nvPr>
            <p:ph type="sldNum" sz="quarter" idx="5"/>
          </p:nvPr>
        </p:nvSpPr>
        <p:spPr/>
        <p:txBody>
          <a:bodyPr/>
          <a:lstStyle/>
          <a:p>
            <a:fld id="{E5C5E99B-B6C2-4B7E-A8C3-9504C8974030}" type="slidenum">
              <a:rPr lang="en-CA" smtClean="0"/>
              <a:t>2</a:t>
            </a:fld>
            <a:endParaRPr lang="en-CA"/>
          </a:p>
        </p:txBody>
      </p:sp>
    </p:spTree>
    <p:extLst>
      <p:ext uri="{BB962C8B-B14F-4D97-AF65-F5344CB8AC3E}">
        <p14:creationId xmlns:p14="http://schemas.microsoft.com/office/powerpoint/2010/main" val="146742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Sources</a:t>
            </a:r>
          </a:p>
          <a:p>
            <a:r>
              <a:rPr lang="en-US"/>
              <a:t>We decide to construct a longitudinal panel dataset covering the six largest Census Metropolitan Areas in Ontario: Toronto, Ottawa-Gatineau, Hamilton, Kitchener-Cambridge-Waterloo, London, and St. Catharines-Niagara. The observation window spans from 2016 to 2024, allowing the analysis to capture different interest rate regimes.</a:t>
            </a:r>
          </a:p>
          <a:p>
            <a:endParaRPr lang="en-US"/>
          </a:p>
          <a:p>
            <a:r>
              <a:rPr lang="en-US"/>
              <a:t>The main outcome variable is the monthly housing price index by city, obtained from Statistics Canada. We will use the logarithm to interpret estimated coefficients as approximate percentage changes and improve modeling stability.</a:t>
            </a:r>
          </a:p>
          <a:p>
            <a:endParaRPr lang="en-US"/>
          </a:p>
          <a:p>
            <a:r>
              <a:rPr lang="en-US"/>
              <a:t>There are three main predictors:</a:t>
            </a:r>
          </a:p>
          <a:p>
            <a:r>
              <a:rPr lang="en-US"/>
              <a:t>The Bank of Canada policy interest rate, aggregated to monthly averages to represent national monetary policy conditions.</a:t>
            </a:r>
          </a:p>
          <a:p>
            <a:r>
              <a:rPr lang="en-US"/>
              <a:t>The number of international study permits, from IRCC open data, which serves as a proxy for international student inflows and housing demand.</a:t>
            </a:r>
          </a:p>
          <a:p>
            <a:r>
              <a:rPr lang="en-US"/>
              <a:t>Housing starts data from CMHC and Statistics Canada, used as a proxy for local housing supply.</a:t>
            </a:r>
            <a:endParaRPr lang="en-CA"/>
          </a:p>
        </p:txBody>
      </p:sp>
      <p:sp>
        <p:nvSpPr>
          <p:cNvPr id="4" name="Slide Number Placeholder 3"/>
          <p:cNvSpPr>
            <a:spLocks noGrp="1"/>
          </p:cNvSpPr>
          <p:nvPr>
            <p:ph type="sldNum" sz="quarter" idx="5"/>
          </p:nvPr>
        </p:nvSpPr>
        <p:spPr/>
        <p:txBody>
          <a:bodyPr/>
          <a:lstStyle/>
          <a:p>
            <a:fld id="{E5C5E99B-B6C2-4B7E-A8C3-9504C8974030}" type="slidenum">
              <a:rPr lang="en-CA" smtClean="0"/>
              <a:t>3</a:t>
            </a:fld>
            <a:endParaRPr lang="en-CA"/>
          </a:p>
        </p:txBody>
      </p:sp>
    </p:spTree>
    <p:extLst>
      <p:ext uri="{BB962C8B-B14F-4D97-AF65-F5344CB8AC3E}">
        <p14:creationId xmlns:p14="http://schemas.microsoft.com/office/powerpoint/2010/main" val="1840243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Bayesian Model and Expected Outputs</a:t>
            </a:r>
          </a:p>
          <a:p>
            <a:r>
              <a:rPr lang="en-US"/>
              <a:t>To analyze this question, we will use a Bayesian multilevel regression model. Our data comes from multiple cities observed over time. These cities share some common factors, like the national interest rate, but they may still respond differently depending on their own housing markets. A multilevel model allows us to handle this situation. It estimates overall effects that are shared across all cities, while also allowing each city to have its own variation around those effects. This approach is called partial pooling, and it helps us avoid treating all cities as identical while still using information from the full dataset.</a:t>
            </a:r>
          </a:p>
          <a:p>
            <a:endParaRPr lang="en-US"/>
          </a:p>
          <a:p>
            <a:r>
              <a:rPr lang="en-US"/>
              <a:t>We will estimate the model using Bayesian methods with weakly informative priors, and we will check model performance using convergence diagnostics and posterior predictive checks.</a:t>
            </a:r>
          </a:p>
          <a:p>
            <a:endParaRPr lang="en-US"/>
          </a:p>
          <a:p>
            <a:r>
              <a:rPr lang="en-US"/>
              <a:t>We expect to produce several main results from this model:</a:t>
            </a:r>
          </a:p>
          <a:p>
            <a:r>
              <a:rPr lang="en-US"/>
              <a:t>First, we will estimate the posterior effects of interest rates, student inflows, and housing supply on housing prices.</a:t>
            </a:r>
          </a:p>
          <a:p>
            <a:r>
              <a:rPr lang="en-US"/>
              <a:t>Second, we will examine city-level differences, showing how strongly different housing markets respond to these factors.</a:t>
            </a:r>
          </a:p>
          <a:p>
            <a:r>
              <a:rPr lang="en-US"/>
              <a:t>Finally, we will use posterior predictions to evaluate how well the model explains the observed housing price trends.</a:t>
            </a:r>
            <a:endParaRPr lang="en-CA"/>
          </a:p>
        </p:txBody>
      </p:sp>
      <p:sp>
        <p:nvSpPr>
          <p:cNvPr id="4" name="Slide Number Placeholder 3"/>
          <p:cNvSpPr>
            <a:spLocks noGrp="1"/>
          </p:cNvSpPr>
          <p:nvPr>
            <p:ph type="sldNum" sz="quarter" idx="5"/>
          </p:nvPr>
        </p:nvSpPr>
        <p:spPr/>
        <p:txBody>
          <a:bodyPr/>
          <a:lstStyle/>
          <a:p>
            <a:fld id="{E5C5E99B-B6C2-4B7E-A8C3-9504C8974030}" type="slidenum">
              <a:rPr lang="en-CA" smtClean="0"/>
              <a:t>4</a:t>
            </a:fld>
            <a:endParaRPr lang="en-CA"/>
          </a:p>
        </p:txBody>
      </p:sp>
    </p:spTree>
    <p:extLst>
      <p:ext uri="{BB962C8B-B14F-4D97-AF65-F5344CB8AC3E}">
        <p14:creationId xmlns:p14="http://schemas.microsoft.com/office/powerpoint/2010/main" val="4282229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F3CEC-3B0C-ECE6-0A8B-DC567F9B7E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3E2DB64-D276-07E3-59E8-257E2E1961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7E07475-E165-D8E5-DEB7-AEA3A900D5CC}"/>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5" name="Footer Placeholder 4">
            <a:extLst>
              <a:ext uri="{FF2B5EF4-FFF2-40B4-BE49-F238E27FC236}">
                <a16:creationId xmlns:a16="http://schemas.microsoft.com/office/drawing/2014/main" id="{BED02CFB-B43A-969B-BA33-BCF38ACE793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5D20827-2525-BAC8-A07A-A4A530E70E83}"/>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127794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8F64-4BE0-5918-F05C-180E6B8BD69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D6F286E-EB15-714D-D8E7-EB4CDC5A01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F091547-2144-43BA-B0B9-65FC0EE3EB56}"/>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5" name="Footer Placeholder 4">
            <a:extLst>
              <a:ext uri="{FF2B5EF4-FFF2-40B4-BE49-F238E27FC236}">
                <a16:creationId xmlns:a16="http://schemas.microsoft.com/office/drawing/2014/main" id="{12C8D5EA-65EB-F3A9-69EF-D316C59717A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F061E6B-71AC-FC87-89EE-39FD1179BF78}"/>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2607355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AAC1-B28C-60DB-70CF-BE39C62713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A2BD680-65F8-3282-0EBD-DF31EC74ED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B161F8-8D4D-4C8C-0E39-2ED6D756C883}"/>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5" name="Footer Placeholder 4">
            <a:extLst>
              <a:ext uri="{FF2B5EF4-FFF2-40B4-BE49-F238E27FC236}">
                <a16:creationId xmlns:a16="http://schemas.microsoft.com/office/drawing/2014/main" id="{7F11D2D0-3614-1429-6E55-4FC7657E820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AB5B1C4-0E78-DFE5-434E-47B931081159}"/>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1611821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B1BD-303C-DC1D-37F3-F3FCF75BB7B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219DF28-FA7E-F75C-F661-B6FFE51CBB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42AB160-59C8-C09B-C537-13375852CB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5EAC69D-BBCE-3BCC-EAF2-D73002538BA5}"/>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6" name="Footer Placeholder 5">
            <a:extLst>
              <a:ext uri="{FF2B5EF4-FFF2-40B4-BE49-F238E27FC236}">
                <a16:creationId xmlns:a16="http://schemas.microsoft.com/office/drawing/2014/main" id="{49A4A221-7D1F-73CC-6E97-C04B10338C0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5C5D416-7454-CA0F-BDF1-03F815340824}"/>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3291234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0AF4B-8299-6211-22E7-540E601C158E}"/>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794FAC0-A9F6-EC99-9067-B96BE5432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E3E7FE-16FE-D90F-7159-3952F83AC0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927ED21-06A8-7E64-9A09-284A53303F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B66426-95F2-8D3A-FB8A-180F917B8C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D07BC52-5706-9427-4BFF-C0169A0B2DB5}"/>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8" name="Footer Placeholder 7">
            <a:extLst>
              <a:ext uri="{FF2B5EF4-FFF2-40B4-BE49-F238E27FC236}">
                <a16:creationId xmlns:a16="http://schemas.microsoft.com/office/drawing/2014/main" id="{B3EFBE9F-B523-0019-9E42-2F5AECEEFF1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A9B16FE-0ED9-F133-07DA-3E417054E0AB}"/>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1923988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D5B1B-3C63-22FB-AE4C-2FA5DC0BC5C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D3DF53E-F0E6-B904-BCFA-D4276AEB760D}"/>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4" name="Footer Placeholder 3">
            <a:extLst>
              <a:ext uri="{FF2B5EF4-FFF2-40B4-BE49-F238E27FC236}">
                <a16:creationId xmlns:a16="http://schemas.microsoft.com/office/drawing/2014/main" id="{72772430-06F9-56E9-564D-CE53738D946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1AD3841-29DE-18F9-CE7F-64D70E60002C}"/>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504188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A301D3-9808-578F-FBC7-384205221C34}"/>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3" name="Footer Placeholder 2">
            <a:extLst>
              <a:ext uri="{FF2B5EF4-FFF2-40B4-BE49-F238E27FC236}">
                <a16:creationId xmlns:a16="http://schemas.microsoft.com/office/drawing/2014/main" id="{112652E0-65C1-E0B9-0DBA-7FDAC1F625D4}"/>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508043D-8BE4-FE47-D5E4-CB036525B293}"/>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3573816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0FA9D-E84D-E75C-701B-2B16682A11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9936F10-2827-AE28-4919-82DEF84A50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77F1652-8D09-E6F6-A3C1-3BF24B6E53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143692-61E4-EFD8-2F38-C65B1E99272A}"/>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6" name="Footer Placeholder 5">
            <a:extLst>
              <a:ext uri="{FF2B5EF4-FFF2-40B4-BE49-F238E27FC236}">
                <a16:creationId xmlns:a16="http://schemas.microsoft.com/office/drawing/2014/main" id="{CB107069-7890-4F98-57E4-694B574E419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AE12CB3-018C-F3F4-3C69-D96ABB740628}"/>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3207756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DFE8-D009-D329-8C9A-CD23646161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D36D569-770C-13A0-271C-4098DA5FD0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A098708-04E7-3021-965C-B712967BB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BA0416-F52D-E97D-ACAE-7D063095654B}"/>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6" name="Footer Placeholder 5">
            <a:extLst>
              <a:ext uri="{FF2B5EF4-FFF2-40B4-BE49-F238E27FC236}">
                <a16:creationId xmlns:a16="http://schemas.microsoft.com/office/drawing/2014/main" id="{0A045314-34B6-DC7B-6414-9572EAD9547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3AC72F5-5E68-3F49-FB37-C351CC4C711C}"/>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1255000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A71A1-93AC-EB3D-64CE-A4FC8B9F2853}"/>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1832BE5-E186-A5EC-A075-ECF1192B86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9FAA58A-7C38-1E5A-FB95-4F9C9E556A83}"/>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5" name="Footer Placeholder 4">
            <a:extLst>
              <a:ext uri="{FF2B5EF4-FFF2-40B4-BE49-F238E27FC236}">
                <a16:creationId xmlns:a16="http://schemas.microsoft.com/office/drawing/2014/main" id="{91D04FB7-2B69-AD4B-EB01-FA6CC39389D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C155A85-50E9-2D0A-5023-D9BB5A5EADCB}"/>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2587769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63A8E8-B389-AD7D-B3E3-56AE4EB4AB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A89921B-2B7F-3BEE-0650-1016E68DE0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44E815-EE7D-E21C-EB26-FD82F0440E32}"/>
              </a:ext>
            </a:extLst>
          </p:cNvPr>
          <p:cNvSpPr>
            <a:spLocks noGrp="1"/>
          </p:cNvSpPr>
          <p:nvPr>
            <p:ph type="dt" sz="half" idx="10"/>
          </p:nvPr>
        </p:nvSpPr>
        <p:spPr/>
        <p:txBody>
          <a:bodyPr/>
          <a:lstStyle/>
          <a:p>
            <a:fld id="{0FF98193-4D26-499B-9B8F-7D6196F666D9}" type="datetimeFigureOut">
              <a:rPr lang="en-CA" smtClean="0"/>
              <a:t>2026-03-11</a:t>
            </a:fld>
            <a:endParaRPr lang="en-CA"/>
          </a:p>
        </p:txBody>
      </p:sp>
      <p:sp>
        <p:nvSpPr>
          <p:cNvPr id="5" name="Footer Placeholder 4">
            <a:extLst>
              <a:ext uri="{FF2B5EF4-FFF2-40B4-BE49-F238E27FC236}">
                <a16:creationId xmlns:a16="http://schemas.microsoft.com/office/drawing/2014/main" id="{8D5B24C1-FF17-F4DE-E848-ADC244EA8BE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CC9E85B-0655-D617-07B3-8C5B6D1C472A}"/>
              </a:ext>
            </a:extLst>
          </p:cNvPr>
          <p:cNvSpPr>
            <a:spLocks noGrp="1"/>
          </p:cNvSpPr>
          <p:nvPr>
            <p:ph type="sldNum" sz="quarter" idx="12"/>
          </p:nvPr>
        </p:nvSpPr>
        <p:spPr/>
        <p:txBody>
          <a:bodyPr/>
          <a:lstStyle/>
          <a:p>
            <a:fld id="{9A4DD540-2831-4BE1-A4F1-07AF2B547863}" type="slidenum">
              <a:rPr lang="en-CA" smtClean="0"/>
              <a:t>‹#›</a:t>
            </a:fld>
            <a:endParaRPr lang="en-CA"/>
          </a:p>
        </p:txBody>
      </p:sp>
    </p:spTree>
    <p:extLst>
      <p:ext uri="{BB962C8B-B14F-4D97-AF65-F5344CB8AC3E}">
        <p14:creationId xmlns:p14="http://schemas.microsoft.com/office/powerpoint/2010/main" val="1038256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534D8-BA61-2A80-A764-1C1700C87F64}"/>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187B6DF-4678-7656-9420-46CBD5B11F9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90A6140-3D77-563F-BB79-79FE990ACDEB}"/>
              </a:ext>
            </a:extLst>
          </p:cNvPr>
          <p:cNvSpPr>
            <a:spLocks noGrp="1"/>
          </p:cNvSpPr>
          <p:nvPr>
            <p:ph type="dt" sz="half" idx="10"/>
          </p:nvPr>
        </p:nvSpPr>
        <p:spPr/>
        <p:txBody>
          <a:bodyPr/>
          <a:lstStyle/>
          <a:p>
            <a:fld id="{93F74629-818F-4C63-90AE-59A50AC19BF7}" type="datetimeFigureOut">
              <a:rPr lang="en-CA" smtClean="0"/>
              <a:t>2026-03-11</a:t>
            </a:fld>
            <a:endParaRPr lang="en-CA"/>
          </a:p>
        </p:txBody>
      </p:sp>
      <p:sp>
        <p:nvSpPr>
          <p:cNvPr id="5" name="Footer Placeholder 4">
            <a:extLst>
              <a:ext uri="{FF2B5EF4-FFF2-40B4-BE49-F238E27FC236}">
                <a16:creationId xmlns:a16="http://schemas.microsoft.com/office/drawing/2014/main" id="{1E525930-FA34-ACA8-1E6D-EB8CCAC017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56A7476-7E2F-1A1C-0858-C6DA18043719}"/>
              </a:ext>
            </a:extLst>
          </p:cNvPr>
          <p:cNvSpPr>
            <a:spLocks noGrp="1"/>
          </p:cNvSpPr>
          <p:nvPr>
            <p:ph type="sldNum" sz="quarter" idx="12"/>
          </p:nvPr>
        </p:nvSpPr>
        <p:spPr/>
        <p:txBody>
          <a:bodyPr/>
          <a:lstStyle/>
          <a:p>
            <a:fld id="{26513D8E-30FA-4E70-9EB3-CCD257F9FA83}" type="slidenum">
              <a:rPr lang="en-CA" smtClean="0"/>
              <a:t>‹#›</a:t>
            </a:fld>
            <a:endParaRPr lang="en-CA"/>
          </a:p>
        </p:txBody>
      </p:sp>
    </p:spTree>
    <p:extLst>
      <p:ext uri="{BB962C8B-B14F-4D97-AF65-F5344CB8AC3E}">
        <p14:creationId xmlns:p14="http://schemas.microsoft.com/office/powerpoint/2010/main" val="2096799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D8784-D6CE-4144-E667-EB798DAA7B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4310838-A1C3-37EC-4133-DD9AA59932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1710A8B-EED5-1B89-DF0D-88EF49351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F98193-4D26-499B-9B8F-7D6196F666D9}" type="datetimeFigureOut">
              <a:rPr lang="en-CA" smtClean="0"/>
              <a:t>2026-03-11</a:t>
            </a:fld>
            <a:endParaRPr lang="en-CA"/>
          </a:p>
        </p:txBody>
      </p:sp>
      <p:sp>
        <p:nvSpPr>
          <p:cNvPr id="5" name="Footer Placeholder 4">
            <a:extLst>
              <a:ext uri="{FF2B5EF4-FFF2-40B4-BE49-F238E27FC236}">
                <a16:creationId xmlns:a16="http://schemas.microsoft.com/office/drawing/2014/main" id="{6C05E0B9-C1E8-37C8-AE74-46FBC886C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C25ACDBA-ADEC-2DC3-8EEB-B9E0B3243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4DD540-2831-4BE1-A4F1-07AF2B547863}" type="slidenum">
              <a:rPr lang="en-CA" smtClean="0"/>
              <a:t>‹#›</a:t>
            </a:fld>
            <a:endParaRPr lang="en-CA"/>
          </a:p>
        </p:txBody>
      </p:sp>
    </p:spTree>
    <p:extLst>
      <p:ext uri="{BB962C8B-B14F-4D97-AF65-F5344CB8AC3E}">
        <p14:creationId xmlns:p14="http://schemas.microsoft.com/office/powerpoint/2010/main" val="2294047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10206-5319-FF4F-D4E1-5840FD78B1A0}"/>
              </a:ext>
            </a:extLst>
          </p:cNvPr>
          <p:cNvSpPr>
            <a:spLocks noGrp="1"/>
          </p:cNvSpPr>
          <p:nvPr>
            <p:ph type="ctrTitle"/>
          </p:nvPr>
        </p:nvSpPr>
        <p:spPr>
          <a:xfrm>
            <a:off x="0" y="1"/>
            <a:ext cx="12192000" cy="1892300"/>
          </a:xfrm>
        </p:spPr>
        <p:txBody>
          <a:bodyPr>
            <a:normAutofit/>
          </a:bodyPr>
          <a:lstStyle/>
          <a:p>
            <a:r>
              <a:rPr lang="en-US">
                <a:latin typeface="Calibri" panose="020F0502020204030204" pitchFamily="34" charset="0"/>
                <a:ea typeface="Calibri" panose="020F0502020204030204" pitchFamily="34" charset="0"/>
                <a:cs typeface="Calibri" panose="020F0502020204030204" pitchFamily="34" charset="0"/>
              </a:rPr>
              <a:t>Bayesian Multilevel Analysis of Housing Prices in Major Ontario Cities</a:t>
            </a:r>
            <a:endParaRPr lang="en-CA">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FADAAF2E-4F62-5383-50AB-70441D32B358}"/>
              </a:ext>
            </a:extLst>
          </p:cNvPr>
          <p:cNvSpPr>
            <a:spLocks noGrp="1"/>
          </p:cNvSpPr>
          <p:nvPr>
            <p:ph type="subTitle" idx="1"/>
          </p:nvPr>
        </p:nvSpPr>
        <p:spPr>
          <a:xfrm>
            <a:off x="1384300" y="2537619"/>
            <a:ext cx="9315450" cy="1782762"/>
          </a:xfrm>
        </p:spPr>
        <p:txBody>
          <a:bodyPr>
            <a:normAutofit/>
          </a:bodyPr>
          <a:lstStyle/>
          <a:p>
            <a:r>
              <a:rPr lang="en-US" sz="360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How do </a:t>
            </a:r>
            <a:r>
              <a:rPr lang="en-US" sz="3600" b="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interest rates</a:t>
            </a:r>
            <a:r>
              <a:rPr lang="en-US" sz="360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600" b="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international student enrollment</a:t>
            </a:r>
            <a:r>
              <a:rPr lang="en-US" sz="360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and </a:t>
            </a:r>
            <a:r>
              <a:rPr lang="en-US" sz="3600" b="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housing supply </a:t>
            </a:r>
            <a:r>
              <a:rPr lang="en-US" sz="360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interact to drive </a:t>
            </a:r>
            <a:r>
              <a:rPr lang="en-US" sz="3600" b="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housing prices</a:t>
            </a:r>
            <a:r>
              <a:rPr lang="en-US" sz="360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across </a:t>
            </a:r>
            <a:r>
              <a:rPr lang="en-US" sz="3600" b="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major Ontario cities</a:t>
            </a:r>
            <a:r>
              <a:rPr lang="en-US" sz="360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TextBox 3">
            <a:extLst>
              <a:ext uri="{FF2B5EF4-FFF2-40B4-BE49-F238E27FC236}">
                <a16:creationId xmlns:a16="http://schemas.microsoft.com/office/drawing/2014/main" id="{9016229B-1B44-7005-9597-569487CE3634}"/>
              </a:ext>
            </a:extLst>
          </p:cNvPr>
          <p:cNvSpPr txBox="1"/>
          <p:nvPr/>
        </p:nvSpPr>
        <p:spPr>
          <a:xfrm>
            <a:off x="7124700" y="4743450"/>
            <a:ext cx="3575050" cy="1323439"/>
          </a:xfrm>
          <a:prstGeom prst="rect">
            <a:avLst/>
          </a:prstGeom>
          <a:noFill/>
        </p:spPr>
        <p:txBody>
          <a:bodyPr wrap="square" rtlCol="0">
            <a:spAutoFit/>
          </a:bodyPr>
          <a:lstStyle/>
          <a:p>
            <a:pPr algn="r"/>
            <a:r>
              <a:rPr lang="en-CA" sz="2000">
                <a:latin typeface="Calibri" panose="020F0502020204030204" pitchFamily="34" charset="0"/>
                <a:ea typeface="Calibri" panose="020F0502020204030204" pitchFamily="34" charset="0"/>
                <a:cs typeface="Calibri" panose="020F0502020204030204" pitchFamily="34" charset="0"/>
              </a:rPr>
              <a:t>MSE 718 Term Project – Group 6</a:t>
            </a:r>
          </a:p>
          <a:p>
            <a:pPr algn="r"/>
            <a:r>
              <a:rPr lang="en-CA" sz="2000">
                <a:latin typeface="Calibri" panose="020F0502020204030204" pitchFamily="34" charset="0"/>
                <a:ea typeface="Calibri" panose="020F0502020204030204" pitchFamily="34" charset="0"/>
                <a:cs typeface="Calibri" panose="020F0502020204030204" pitchFamily="34" charset="0"/>
              </a:rPr>
              <a:t>Henry A. Tetteh</a:t>
            </a:r>
          </a:p>
          <a:p>
            <a:pPr algn="r"/>
            <a:r>
              <a:rPr lang="en-CA" sz="2000">
                <a:latin typeface="Calibri" panose="020F0502020204030204" pitchFamily="34" charset="0"/>
                <a:ea typeface="Calibri" panose="020F0502020204030204" pitchFamily="34" charset="0"/>
                <a:cs typeface="Calibri" panose="020F0502020204030204" pitchFamily="34" charset="0"/>
              </a:rPr>
              <a:t>Aymen Mehrez</a:t>
            </a:r>
          </a:p>
          <a:p>
            <a:pPr algn="r"/>
            <a:r>
              <a:rPr lang="en-CA" sz="2000">
                <a:latin typeface="Calibri" panose="020F0502020204030204" pitchFamily="34" charset="0"/>
                <a:ea typeface="Calibri" panose="020F0502020204030204" pitchFamily="34" charset="0"/>
                <a:cs typeface="Calibri" panose="020F0502020204030204" pitchFamily="34" charset="0"/>
              </a:rPr>
              <a:t>Gary Zang</a:t>
            </a:r>
          </a:p>
        </p:txBody>
      </p:sp>
    </p:spTree>
    <p:extLst>
      <p:ext uri="{BB962C8B-B14F-4D97-AF65-F5344CB8AC3E}">
        <p14:creationId xmlns:p14="http://schemas.microsoft.com/office/powerpoint/2010/main" val="1758588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54FDB8-2366-CD04-7366-A766DDAA2CC5}"/>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kern="1200">
                <a:solidFill>
                  <a:schemeClr val="tx1"/>
                </a:solidFill>
                <a:latin typeface="Calibri" panose="020F0502020204030204" pitchFamily="34" charset="0"/>
                <a:ea typeface="Calibri" panose="020F0502020204030204" pitchFamily="34" charset="0"/>
                <a:cs typeface="Calibri" panose="020F0502020204030204" pitchFamily="34" charset="0"/>
              </a:rPr>
              <a:t>Background and Motivation</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BA2AC05-3EB4-BF6A-E0FC-D6BEDC12E71C}"/>
              </a:ext>
            </a:extLst>
          </p:cNvPr>
          <p:cNvSpPr>
            <a:spLocks noGrp="1"/>
          </p:cNvSpPr>
          <p:nvPr>
            <p:ph type="body" idx="1"/>
          </p:nvPr>
        </p:nvSpPr>
        <p:spPr>
          <a:xfrm>
            <a:off x="645066" y="2031101"/>
            <a:ext cx="4282984" cy="3511943"/>
          </a:xfrm>
        </p:spPr>
        <p:txBody>
          <a:bodyPr vert="horz" lIns="91440" tIns="45720" rIns="91440" bIns="45720" rtlCol="0" anchor="ctr">
            <a:noAutofit/>
          </a:bodyPr>
          <a:lstStyle/>
          <a:p>
            <a:pPr lvl="0"/>
            <a:r>
              <a:rPr lang="en-US" sz="2200" b="1">
                <a:latin typeface="Calibri" panose="020F0502020204030204" pitchFamily="34" charset="0"/>
                <a:ea typeface="Calibri" panose="020F0502020204030204" pitchFamily="34" charset="0"/>
                <a:cs typeface="Calibri" panose="020F0502020204030204" pitchFamily="34" charset="0"/>
              </a:rPr>
              <a:t>Housing affordability </a:t>
            </a:r>
            <a:r>
              <a:rPr lang="en-US" sz="2200">
                <a:latin typeface="Calibri" panose="020F0502020204030204" pitchFamily="34" charset="0"/>
                <a:ea typeface="Calibri" panose="020F0502020204030204" pitchFamily="34" charset="0"/>
                <a:cs typeface="Calibri" panose="020F0502020204030204" pitchFamily="34" charset="0"/>
              </a:rPr>
              <a:t>has become a major issue in Canada</a:t>
            </a:r>
          </a:p>
          <a:p>
            <a:pPr lvl="0"/>
            <a:r>
              <a:rPr lang="en-US" sz="2200" b="1">
                <a:latin typeface="Calibri" panose="020F0502020204030204" pitchFamily="34" charset="0"/>
                <a:ea typeface="Calibri" panose="020F0502020204030204" pitchFamily="34" charset="0"/>
                <a:cs typeface="Calibri" panose="020F0502020204030204" pitchFamily="34" charset="0"/>
              </a:rPr>
              <a:t>Interest rate </a:t>
            </a:r>
            <a:r>
              <a:rPr lang="en-US" sz="2200">
                <a:latin typeface="Calibri" panose="020F0502020204030204" pitchFamily="34" charset="0"/>
                <a:ea typeface="Calibri" panose="020F0502020204030204" pitchFamily="34" charset="0"/>
                <a:cs typeface="Calibri" panose="020F0502020204030204" pitchFamily="34" charset="0"/>
              </a:rPr>
              <a:t>changes from the Bank of Canada affect housing demand</a:t>
            </a:r>
          </a:p>
          <a:p>
            <a:pPr lvl="0"/>
            <a:r>
              <a:rPr lang="en-US" sz="2200">
                <a:latin typeface="Calibri" panose="020F0502020204030204" pitchFamily="34" charset="0"/>
                <a:ea typeface="Calibri" panose="020F0502020204030204" pitchFamily="34" charset="0"/>
                <a:cs typeface="Calibri" panose="020F0502020204030204" pitchFamily="34" charset="0"/>
              </a:rPr>
              <a:t>I</a:t>
            </a:r>
            <a:r>
              <a:rPr lang="en-US" sz="2200" b="1">
                <a:latin typeface="Calibri" panose="020F0502020204030204" pitchFamily="34" charset="0"/>
                <a:ea typeface="Calibri" panose="020F0502020204030204" pitchFamily="34" charset="0"/>
                <a:cs typeface="Calibri" panose="020F0502020204030204" pitchFamily="34" charset="0"/>
              </a:rPr>
              <a:t>nternational student inflows</a:t>
            </a:r>
            <a:r>
              <a:rPr lang="en-US" sz="2200">
                <a:latin typeface="Calibri" panose="020F0502020204030204" pitchFamily="34" charset="0"/>
                <a:ea typeface="Calibri" panose="020F0502020204030204" pitchFamily="34" charset="0"/>
                <a:cs typeface="Calibri" panose="020F0502020204030204" pitchFamily="34" charset="0"/>
              </a:rPr>
              <a:t> affect housing demand</a:t>
            </a:r>
          </a:p>
          <a:p>
            <a:pPr lvl="0"/>
            <a:r>
              <a:rPr lang="en-US" sz="2200">
                <a:latin typeface="Calibri" panose="020F0502020204030204" pitchFamily="34" charset="0"/>
                <a:ea typeface="Calibri" panose="020F0502020204030204" pitchFamily="34" charset="0"/>
                <a:cs typeface="Calibri" panose="020F0502020204030204" pitchFamily="34" charset="0"/>
              </a:rPr>
              <a:t>Housing </a:t>
            </a:r>
            <a:r>
              <a:rPr lang="en-US" sz="2200" b="1">
                <a:latin typeface="Calibri" panose="020F0502020204030204" pitchFamily="34" charset="0"/>
                <a:ea typeface="Calibri" panose="020F0502020204030204" pitchFamily="34" charset="0"/>
                <a:cs typeface="Calibri" panose="020F0502020204030204" pitchFamily="34" charset="0"/>
              </a:rPr>
              <a:t>markets respond differently</a:t>
            </a:r>
            <a:r>
              <a:rPr lang="en-US" sz="2200">
                <a:latin typeface="Calibri" panose="020F0502020204030204" pitchFamily="34" charset="0"/>
                <a:ea typeface="Calibri" panose="020F0502020204030204" pitchFamily="34" charset="0"/>
                <a:cs typeface="Calibri" panose="020F0502020204030204" pitchFamily="34" charset="0"/>
              </a:rPr>
              <a:t> across Ontario cities</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782C2F1-1652-3090-C6DC-589ABB1D3257}"/>
              </a:ext>
            </a:extLst>
          </p:cNvPr>
          <p:cNvPicPr>
            <a:picLocks noChangeAspect="1"/>
          </p:cNvPicPr>
          <p:nvPr/>
        </p:nvPicPr>
        <p:blipFill>
          <a:blip r:embed="rId3"/>
          <a:stretch>
            <a:fillRect/>
          </a:stretch>
        </p:blipFill>
        <p:spPr>
          <a:xfrm>
            <a:off x="5987738" y="2130682"/>
            <a:ext cx="5628018" cy="2363766"/>
          </a:xfrm>
          <a:prstGeom prst="rect">
            <a:avLst/>
          </a:prstGeom>
        </p:spPr>
      </p:pic>
    </p:spTree>
    <p:extLst>
      <p:ext uri="{BB962C8B-B14F-4D97-AF65-F5344CB8AC3E}">
        <p14:creationId xmlns:p14="http://schemas.microsoft.com/office/powerpoint/2010/main" val="2014564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145ED-83E4-FAED-5C7F-F6E84AD1E2FC}"/>
              </a:ext>
            </a:extLst>
          </p:cNvPr>
          <p:cNvSpPr>
            <a:spLocks noGrp="1"/>
          </p:cNvSpPr>
          <p:nvPr>
            <p:ph type="title"/>
          </p:nvPr>
        </p:nvSpPr>
        <p:spPr>
          <a:xfrm>
            <a:off x="835192" y="0"/>
            <a:ext cx="10515600" cy="1325563"/>
          </a:xfrm>
        </p:spPr>
        <p:txBody>
          <a:bodyPr/>
          <a:lstStyle/>
          <a:p>
            <a:pPr algn="ctr"/>
            <a:r>
              <a:rPr lang="en-CA">
                <a:latin typeface="Calibri" panose="020F0502020204030204" pitchFamily="34" charset="0"/>
                <a:ea typeface="Calibri" panose="020F0502020204030204" pitchFamily="34" charset="0"/>
                <a:cs typeface="Calibri" panose="020F0502020204030204" pitchFamily="34" charset="0"/>
              </a:rPr>
              <a:t>Data Sources</a:t>
            </a:r>
          </a:p>
        </p:txBody>
      </p:sp>
      <p:sp>
        <p:nvSpPr>
          <p:cNvPr id="3" name="Text Placeholder 2">
            <a:extLst>
              <a:ext uri="{FF2B5EF4-FFF2-40B4-BE49-F238E27FC236}">
                <a16:creationId xmlns:a16="http://schemas.microsoft.com/office/drawing/2014/main" id="{152DC2D5-6D10-B0DA-BC21-C090ECD2B67A}"/>
              </a:ext>
            </a:extLst>
          </p:cNvPr>
          <p:cNvSpPr>
            <a:spLocks noGrp="1"/>
          </p:cNvSpPr>
          <p:nvPr>
            <p:ph type="body" idx="1"/>
          </p:nvPr>
        </p:nvSpPr>
        <p:spPr>
          <a:xfrm>
            <a:off x="1612900" y="1316038"/>
            <a:ext cx="8731250" cy="5370512"/>
          </a:xfrm>
        </p:spPr>
        <p:txBody>
          <a:bodyPr>
            <a:normAutofit/>
          </a:bodyPr>
          <a:lstStyle/>
          <a:p>
            <a:pPr lvl="0"/>
            <a:r>
              <a:rPr lang="en-CA" sz="3200">
                <a:latin typeface="Calibri" panose="020F0502020204030204" pitchFamily="34" charset="0"/>
                <a:ea typeface="Calibri" panose="020F0502020204030204" pitchFamily="34" charset="0"/>
                <a:cs typeface="Calibri" panose="020F0502020204030204" pitchFamily="34" charset="0"/>
              </a:rPr>
              <a:t>Dataset</a:t>
            </a:r>
          </a:p>
          <a:p>
            <a:pPr lvl="1"/>
            <a:r>
              <a:rPr lang="en-US" sz="2800">
                <a:latin typeface="Calibri" panose="020F0502020204030204" pitchFamily="34" charset="0"/>
                <a:ea typeface="Calibri" panose="020F0502020204030204" pitchFamily="34" charset="0"/>
                <a:cs typeface="Calibri" panose="020F0502020204030204" pitchFamily="34" charset="0"/>
              </a:rPr>
              <a:t>Panel dataset of 6 Major Ontario CMAs </a:t>
            </a:r>
          </a:p>
          <a:p>
            <a:pPr lvl="1"/>
            <a:r>
              <a:rPr lang="en-US" sz="2800">
                <a:latin typeface="Calibri" panose="020F0502020204030204" pitchFamily="34" charset="0"/>
                <a:ea typeface="Calibri" panose="020F0502020204030204" pitchFamily="34" charset="0"/>
                <a:cs typeface="Calibri" panose="020F0502020204030204" pitchFamily="34" charset="0"/>
              </a:rPr>
              <a:t>Time period: From Jan 2016 to Dec 2024</a:t>
            </a:r>
          </a:p>
          <a:p>
            <a:pPr lvl="1"/>
            <a:r>
              <a:rPr lang="en-CA" sz="2800">
                <a:latin typeface="Calibri" panose="020F0502020204030204" pitchFamily="34" charset="0"/>
                <a:ea typeface="Calibri" panose="020F0502020204030204" pitchFamily="34" charset="0"/>
                <a:cs typeface="Calibri" panose="020F0502020204030204" pitchFamily="34" charset="0"/>
              </a:rPr>
              <a:t>Monthly observations</a:t>
            </a:r>
          </a:p>
          <a:p>
            <a:pPr lvl="0"/>
            <a:r>
              <a:rPr lang="en-CA" sz="3200">
                <a:latin typeface="Calibri" panose="020F0502020204030204" pitchFamily="34" charset="0"/>
                <a:ea typeface="Calibri" panose="020F0502020204030204" pitchFamily="34" charset="0"/>
                <a:cs typeface="Calibri" panose="020F0502020204030204" pitchFamily="34" charset="0"/>
              </a:rPr>
              <a:t>Outcome Variable</a:t>
            </a:r>
          </a:p>
          <a:p>
            <a:pPr lvl="1"/>
            <a:r>
              <a:rPr lang="en-US" sz="2800">
                <a:latin typeface="Calibri" panose="020F0502020204030204" pitchFamily="34" charset="0"/>
                <a:ea typeface="Calibri" panose="020F0502020204030204" pitchFamily="34" charset="0"/>
                <a:cs typeface="Calibri" panose="020F0502020204030204" pitchFamily="34" charset="0"/>
              </a:rPr>
              <a:t>Housing price index (by city)</a:t>
            </a:r>
          </a:p>
          <a:p>
            <a:pPr lvl="2"/>
            <a:r>
              <a:rPr lang="en-US" altLang="zh-CN" sz="2400">
                <a:latin typeface="Calibri" panose="020F0502020204030204" pitchFamily="34" charset="0"/>
                <a:ea typeface="Calibri" panose="020F0502020204030204" pitchFamily="34" charset="0"/>
                <a:cs typeface="Calibri" panose="020F0502020204030204" pitchFamily="34" charset="0"/>
              </a:rPr>
              <a:t>Using </a:t>
            </a:r>
            <a:r>
              <a:rPr lang="en-CA" sz="2400">
                <a:latin typeface="Calibri" panose="020F0502020204030204" pitchFamily="34" charset="0"/>
                <a:ea typeface="Calibri" panose="020F0502020204030204" pitchFamily="34" charset="0"/>
                <a:cs typeface="Calibri" panose="020F0502020204030204" pitchFamily="34" charset="0"/>
              </a:rPr>
              <a:t>log - </a:t>
            </a:r>
            <a:r>
              <a:rPr lang="en-CA" sz="2400" b="1">
                <a:latin typeface="Calibri" panose="020F0502020204030204" pitchFamily="34" charset="0"/>
                <a:ea typeface="Calibri" panose="020F0502020204030204" pitchFamily="34" charset="0"/>
                <a:cs typeface="Calibri" panose="020F0502020204030204" pitchFamily="34" charset="0"/>
              </a:rPr>
              <a:t>percentage (%)</a:t>
            </a:r>
            <a:r>
              <a:rPr lang="en-CA" sz="2400">
                <a:latin typeface="Calibri" panose="020F0502020204030204" pitchFamily="34" charset="0"/>
                <a:ea typeface="Calibri" panose="020F0502020204030204" pitchFamily="34" charset="0"/>
                <a:cs typeface="Calibri" panose="020F0502020204030204" pitchFamily="34" charset="0"/>
              </a:rPr>
              <a:t> changes</a:t>
            </a:r>
          </a:p>
          <a:p>
            <a:pPr lvl="0"/>
            <a:r>
              <a:rPr lang="en-CA" sz="3200">
                <a:latin typeface="Calibri" panose="020F0502020204030204" pitchFamily="34" charset="0"/>
                <a:ea typeface="Calibri" panose="020F0502020204030204" pitchFamily="34" charset="0"/>
                <a:cs typeface="Calibri" panose="020F0502020204030204" pitchFamily="34" charset="0"/>
              </a:rPr>
              <a:t>Main Predictors</a:t>
            </a:r>
          </a:p>
          <a:p>
            <a:pPr lvl="1"/>
            <a:r>
              <a:rPr lang="en-US" sz="2800">
                <a:latin typeface="Calibri" panose="020F0502020204030204" pitchFamily="34" charset="0"/>
                <a:ea typeface="Calibri" panose="020F0502020204030204" pitchFamily="34" charset="0"/>
                <a:cs typeface="Calibri" panose="020F0502020204030204" pitchFamily="34" charset="0"/>
              </a:rPr>
              <a:t>Bank of Canada policy interest rate</a:t>
            </a:r>
          </a:p>
          <a:p>
            <a:pPr lvl="1"/>
            <a:r>
              <a:rPr lang="en-US" sz="2800">
                <a:latin typeface="Calibri" panose="020F0502020204030204" pitchFamily="34" charset="0"/>
                <a:ea typeface="Calibri" panose="020F0502020204030204" pitchFamily="34" charset="0"/>
                <a:cs typeface="Calibri" panose="020F0502020204030204" pitchFamily="34" charset="0"/>
              </a:rPr>
              <a:t>International study permits (proxy for student inflows)</a:t>
            </a:r>
          </a:p>
          <a:p>
            <a:pPr lvl="1"/>
            <a:r>
              <a:rPr lang="en-US" sz="2800">
                <a:latin typeface="Calibri" panose="020F0502020204030204" pitchFamily="34" charset="0"/>
                <a:ea typeface="Calibri" panose="020F0502020204030204" pitchFamily="34" charset="0"/>
                <a:cs typeface="Calibri" panose="020F0502020204030204" pitchFamily="34" charset="0"/>
              </a:rPr>
              <a:t>Housing starts (proxy for housing supply)</a:t>
            </a:r>
          </a:p>
        </p:txBody>
      </p:sp>
    </p:spTree>
    <p:extLst>
      <p:ext uri="{BB962C8B-B14F-4D97-AF65-F5344CB8AC3E}">
        <p14:creationId xmlns:p14="http://schemas.microsoft.com/office/powerpoint/2010/main" val="3851400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1F7BA-5DA0-1370-A421-6EBBC0677BFE}"/>
              </a:ext>
            </a:extLst>
          </p:cNvPr>
          <p:cNvSpPr>
            <a:spLocks noGrp="1"/>
          </p:cNvSpPr>
          <p:nvPr>
            <p:ph type="title"/>
          </p:nvPr>
        </p:nvSpPr>
        <p:spPr>
          <a:xfrm>
            <a:off x="838200" y="18255"/>
            <a:ext cx="10515600" cy="1325563"/>
          </a:xfrm>
        </p:spPr>
        <p:txBody>
          <a:bodyPr/>
          <a:lstStyle/>
          <a:p>
            <a:pPr algn="ctr"/>
            <a:r>
              <a:rPr lang="en-US">
                <a:latin typeface="Calibri" panose="020F0502020204030204" pitchFamily="34" charset="0"/>
                <a:ea typeface="Calibri" panose="020F0502020204030204" pitchFamily="34" charset="0"/>
                <a:cs typeface="Calibri" panose="020F0502020204030204" pitchFamily="34" charset="0"/>
              </a:rPr>
              <a:t>Bayesian Model and Expected Outputs</a:t>
            </a:r>
          </a:p>
        </p:txBody>
      </p:sp>
      <p:sp>
        <p:nvSpPr>
          <p:cNvPr id="3" name="Text Placeholder 2">
            <a:extLst>
              <a:ext uri="{FF2B5EF4-FFF2-40B4-BE49-F238E27FC236}">
                <a16:creationId xmlns:a16="http://schemas.microsoft.com/office/drawing/2014/main" id="{DB7DD5C0-BC85-C272-4E1C-D9C2E8F81E09}"/>
              </a:ext>
            </a:extLst>
          </p:cNvPr>
          <p:cNvSpPr>
            <a:spLocks noGrp="1"/>
          </p:cNvSpPr>
          <p:nvPr>
            <p:ph type="body" idx="1"/>
          </p:nvPr>
        </p:nvSpPr>
        <p:spPr>
          <a:xfrm>
            <a:off x="838200" y="1231795"/>
            <a:ext cx="10515600" cy="5441058"/>
          </a:xfrm>
        </p:spPr>
        <p:txBody>
          <a:bodyPr>
            <a:normAutofit/>
          </a:bodyPr>
          <a:lstStyle/>
          <a:p>
            <a:pPr lvl="0"/>
            <a:r>
              <a:rPr lang="en-CA" sz="3200">
                <a:latin typeface="Calibri" panose="020F0502020204030204" pitchFamily="34" charset="0"/>
                <a:ea typeface="Calibri" panose="020F0502020204030204" pitchFamily="34" charset="0"/>
                <a:cs typeface="Calibri" panose="020F0502020204030204" pitchFamily="34" charset="0"/>
              </a:rPr>
              <a:t>Bayesian multilevel regression model</a:t>
            </a:r>
            <a:endParaRPr lang="en-CA">
              <a:latin typeface="Calibri" panose="020F0502020204030204" pitchFamily="34" charset="0"/>
              <a:ea typeface="Calibri" panose="020F0502020204030204" pitchFamily="34" charset="0"/>
              <a:cs typeface="Calibri" panose="020F0502020204030204" pitchFamily="34" charset="0"/>
            </a:endParaRPr>
          </a:p>
          <a:p>
            <a:pPr lvl="1"/>
            <a:r>
              <a:rPr lang="en-CA" sz="2800">
                <a:latin typeface="Calibri" panose="020F0502020204030204" pitchFamily="34" charset="0"/>
                <a:ea typeface="Calibri" panose="020F0502020204030204" pitchFamily="34" charset="0"/>
                <a:cs typeface="Calibri" panose="020F0502020204030204" pitchFamily="34" charset="0"/>
              </a:rPr>
              <a:t>Partial pooling across cities</a:t>
            </a:r>
          </a:p>
          <a:p>
            <a:pPr lvl="0"/>
            <a:r>
              <a:rPr lang="en-CA" sz="3200">
                <a:latin typeface="Calibri" panose="020F0502020204030204" pitchFamily="34" charset="0"/>
                <a:ea typeface="Calibri" panose="020F0502020204030204" pitchFamily="34" charset="0"/>
                <a:cs typeface="Calibri" panose="020F0502020204030204" pitchFamily="34" charset="0"/>
              </a:rPr>
              <a:t>Bayesian Estimation</a:t>
            </a:r>
          </a:p>
          <a:p>
            <a:pPr lvl="1"/>
            <a:r>
              <a:rPr lang="en-CA" sz="2800">
                <a:latin typeface="Calibri" panose="020F0502020204030204" pitchFamily="34" charset="0"/>
                <a:ea typeface="Calibri" panose="020F0502020204030204" pitchFamily="34" charset="0"/>
                <a:cs typeface="Calibri" panose="020F0502020204030204" pitchFamily="34" charset="0"/>
              </a:rPr>
              <a:t>Weakly informative priors</a:t>
            </a:r>
          </a:p>
          <a:p>
            <a:pPr lvl="1"/>
            <a:r>
              <a:rPr lang="en-CA" sz="2800">
                <a:latin typeface="Calibri" panose="020F0502020204030204" pitchFamily="34" charset="0"/>
                <a:ea typeface="Calibri" panose="020F0502020204030204" pitchFamily="34" charset="0"/>
                <a:cs typeface="Calibri" panose="020F0502020204030204" pitchFamily="34" charset="0"/>
              </a:rPr>
              <a:t>Convergence diagnostics</a:t>
            </a:r>
          </a:p>
          <a:p>
            <a:pPr lvl="1"/>
            <a:r>
              <a:rPr lang="en-CA" sz="2800">
                <a:latin typeface="Calibri" panose="020F0502020204030204" pitchFamily="34" charset="0"/>
                <a:ea typeface="Calibri" panose="020F0502020204030204" pitchFamily="34" charset="0"/>
                <a:cs typeface="Calibri" panose="020F0502020204030204" pitchFamily="34" charset="0"/>
              </a:rPr>
              <a:t>Posterior predictive checks</a:t>
            </a:r>
          </a:p>
          <a:p>
            <a:pPr lvl="0"/>
            <a:r>
              <a:rPr lang="en-CA" sz="3200">
                <a:latin typeface="Calibri" panose="020F0502020204030204" pitchFamily="34" charset="0"/>
                <a:ea typeface="Calibri" panose="020F0502020204030204" pitchFamily="34" charset="0"/>
                <a:cs typeface="Calibri" panose="020F0502020204030204" pitchFamily="34" charset="0"/>
              </a:rPr>
              <a:t>Expected Outputs</a:t>
            </a:r>
          </a:p>
          <a:p>
            <a:pPr lvl="1"/>
            <a:r>
              <a:rPr lang="en-US" sz="2800">
                <a:latin typeface="Calibri" panose="020F0502020204030204" pitchFamily="34" charset="0"/>
                <a:ea typeface="Calibri" panose="020F0502020204030204" pitchFamily="34" charset="0"/>
                <a:cs typeface="Calibri" panose="020F0502020204030204" pitchFamily="34" charset="0"/>
              </a:rPr>
              <a:t>Posterior effects of interest rate, students, and housing supply</a:t>
            </a:r>
          </a:p>
          <a:p>
            <a:pPr lvl="1"/>
            <a:r>
              <a:rPr lang="en-US" sz="2800">
                <a:latin typeface="Calibri" panose="020F0502020204030204" pitchFamily="34" charset="0"/>
                <a:ea typeface="Calibri" panose="020F0502020204030204" pitchFamily="34" charset="0"/>
                <a:cs typeface="Calibri" panose="020F0502020204030204" pitchFamily="34" charset="0"/>
              </a:rPr>
              <a:t>City-level differences in housing market responses</a:t>
            </a:r>
          </a:p>
          <a:p>
            <a:pPr lvl="1"/>
            <a:r>
              <a:rPr lang="en-US" sz="2800">
                <a:latin typeface="Calibri" panose="020F0502020204030204" pitchFamily="34" charset="0"/>
                <a:ea typeface="Calibri" panose="020F0502020204030204" pitchFamily="34" charset="0"/>
                <a:cs typeface="Calibri" panose="020F0502020204030204" pitchFamily="34" charset="0"/>
              </a:rPr>
              <a:t>Posterior predictions of housing price trends</a:t>
            </a:r>
          </a:p>
        </p:txBody>
      </p:sp>
    </p:spTree>
    <p:extLst>
      <p:ext uri="{BB962C8B-B14F-4D97-AF65-F5344CB8AC3E}">
        <p14:creationId xmlns:p14="http://schemas.microsoft.com/office/powerpoint/2010/main" val="1146714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4</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Bayesian Multilevel Analysis of Housing Prices in Major Ontario Cities</vt:lpstr>
      <vt:lpstr>Background and Motivation</vt:lpstr>
      <vt:lpstr>Data Sources</vt:lpstr>
      <vt:lpstr>Bayesian Model and Expected Outputs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Wentao Zang</dc:creator>
  <cp:revision>1</cp:revision>
  <dcterms:created xsi:type="dcterms:W3CDTF">2026-03-11T03:52:18Z</dcterms:created>
  <dcterms:modified xsi:type="dcterms:W3CDTF">2026-03-11T18:00:05Z</dcterms:modified>
</cp:coreProperties>
</file>